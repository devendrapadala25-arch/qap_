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37160"/>
            <a:ext cx="530352" cy="274320"/>
          </a:xfrm>
          <a:prstGeom prst="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13716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8FAFC"/>
                </a:solidFill>
                <a:latin typeface="Segoe UI"/>
              </a:rPr>
              <a:t>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QAP Document Verification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PROBLEM STATEMENT  &amp;  PROPOSED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22860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36576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2412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Context:  Defense electronics QAP/QT/AT documents require strict compliance against military standards (MIL-STD, JSS, ISRO, IPC).  Manual verification is error-prone and extremely time-consuming.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49240" cy="27432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349240" cy="411480"/>
          </a:xfrm>
          <a:prstGeom prst="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 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93392"/>
            <a:ext cx="5074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100+ page dense PDFs with multi-column layouts, figures &amp; nested tables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Manual audit takes 4-6 hours per document — unscalable bottleneck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High risk of human errors and missed compliance clauses under MIL-STD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Standard PDF tools destroy section hierarchy, table structure, and figures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No single tool handles TOC matching, table parsing, and LLM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08760"/>
            <a:ext cx="5349240" cy="274320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5349240" cy="411480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Segoe UI"/>
              </a:rPr>
              <a:t>  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93392"/>
            <a:ext cx="5074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4-stage AI pipeline: PDF parse → Section tree → NLP match → LLM verify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MinerU REST API extracts clean Markdown, HTML tables &amp; image assets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Ground-up section tree built from cross-page TOC + heading analysis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4-tier matching: Exact → Fuzzy → Synonym dictionary → Vector embeddings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CBD5E1"/>
                </a:solidFill>
                <a:latin typeface="Segoe UI"/>
              </a:rPr>
              <a:t>  ▸  Local Ollama LLM provides evidence quotes, gap analysis &amp; compliance 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51576" y="2560320"/>
            <a:ext cx="685800" cy="475488"/>
          </a:xfrm>
          <a:prstGeom prst="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2560320"/>
            <a:ext cx="685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  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07408"/>
            <a:ext cx="2148840" cy="713232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439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Segoe UI"/>
              </a:rPr>
              <a:t>100+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7316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Page Defense PDFs Handled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4407408"/>
            <a:ext cx="2148840" cy="713232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44439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Segoe UI"/>
              </a:rPr>
              <a:t>4-6 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477316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Saved per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4336" y="4407408"/>
            <a:ext cx="2148840" cy="713232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74336" y="44439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Segoe UI"/>
              </a:rPr>
              <a:t>4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477316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NLP Matching Cascade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2904" y="4407408"/>
            <a:ext cx="2148840" cy="713232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4439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Segoe U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477316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Air-Gapped / On-Premise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91472" y="4407408"/>
            <a:ext cx="2148840" cy="713232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444398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  <a:latin typeface="Segoe UI"/>
              </a:rPr>
              <a:t>15+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477316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MIL-STD Standards Covered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1: PDF 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358384"/>
            <a:ext cx="9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13432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3432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2: MinerU Parse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5358384"/>
            <a:ext cx="9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9664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9664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3: Section Tree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52744" y="5358384"/>
            <a:ext cx="9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25896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25896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4: NLP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6" y="5358384"/>
            <a:ext cx="9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8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5: LLM 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5208" y="5358384"/>
            <a:ext cx="91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38360" y="5285232"/>
            <a:ext cx="1783080" cy="457200"/>
          </a:xfrm>
          <a:prstGeom prst="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5285232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Step 6: Audit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56832"/>
            <a:ext cx="12191695" cy="201168"/>
          </a:xfrm>
          <a:prstGeom prst="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751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Segoe UI"/>
              </a:rPr>
              <a:t>QAP Document Verification AI   |   Defense Electronics Compliance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37160"/>
            <a:ext cx="530352" cy="274320"/>
          </a:xfrm>
          <a:prstGeom prst="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13716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8FAFC"/>
                </a:solidFill>
                <a:latin typeface="Segoe UI"/>
              </a:rP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System Architecture &amp; 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PIPELINE DESIGN  •  MODULE ROLES  •  TECHNOLOGY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22860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2697480" cy="242316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43000"/>
            <a:ext cx="384048" cy="384048"/>
          </a:xfrm>
          <a:prstGeom prst="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161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PDF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49047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Segoe UI"/>
              </a:rPr>
              <a:t>pdf_converter.py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09928"/>
            <a:ext cx="2468880" cy="18288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64792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MinerU REST API (POST /file_parse)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Backend: hybrid-auto-engine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Modes: auto / vlm / ocr / txt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Outputs: Markdown + HTML tables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+ extracted image PNG assets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Health check via GET 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148840"/>
            <a:ext cx="109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Segoe U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1051560"/>
            <a:ext cx="2697480" cy="242316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143000"/>
            <a:ext cx="384048" cy="384048"/>
          </a:xfrm>
          <a:prstGeom prst="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161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Segoe UI"/>
              </a:rPr>
              <a:t>Section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49047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Segoe UI"/>
              </a:rPr>
              <a:t>section_extractor.py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1709928"/>
            <a:ext cx="2468880" cy="18288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1764792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7-step markdown parsing pipeline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Detects HTML &amp; plain-text TOC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Handles cross-page TOC splits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Builds SectionNode tree (stack)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Extracts TableNode &amp; FigureNode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RapidFuzz anchor search (≥72)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148840"/>
            <a:ext cx="109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Segoe U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1051560"/>
            <a:ext cx="2697480" cy="242316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1143000"/>
            <a:ext cx="384048" cy="384048"/>
          </a:xfrm>
          <a:prstGeom prst="rect">
            <a:avLst>
              <a:gd name="adj" fmla="val 1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1161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Segoe UI"/>
              </a:rPr>
              <a:t>Section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49047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Segoe UI"/>
              </a:rPr>
              <a:t>section_matcher.py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1709928"/>
            <a:ext cx="2468880" cy="18288"/>
          </a:xfrm>
          <a:prstGeom prst="rect">
            <a:avLst>
              <a:gd name="adj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1764792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Tier 1 — Exact normalized match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Tier 2 — RapidFuzz token_sort_ratio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Tier 3 — QAP synonym dictionary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Tier 4 — nomic-embed-text vectors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Cosine similarity (threshold 0.60)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Top-K results across all node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148840"/>
            <a:ext cx="109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  <a:latin typeface="Segoe U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43416" y="1051560"/>
            <a:ext cx="2697480" cy="242316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53144" y="1143000"/>
            <a:ext cx="384048" cy="384048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11430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Segoe U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344" y="1161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LLM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149047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  <a:latin typeface="Segoe UI"/>
              </a:rPr>
              <a:t>llm_verifier.py + job_runner.py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53144" y="1709928"/>
            <a:ext cx="2468880" cy="18288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856" y="1764792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Local Ollama API (POST /api/chat)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Context: section + table + figure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Outputs structured JSON verdict: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  status / summary / evidence / gaps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Background daemon thread (decoupled)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CBD5E1"/>
                </a:solidFill>
                <a:latin typeface="Segoe UI"/>
              </a:rPr>
              <a:t> › Writes results to history.json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630168"/>
            <a:ext cx="5349240" cy="2121408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630168"/>
            <a:ext cx="5349240" cy="347472"/>
          </a:xfrm>
          <a:prstGeom prst="rect">
            <a:avLst>
              <a:gd name="adj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630168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  TECHNOLOGY STACK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041648"/>
            <a:ext cx="50749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Web UI        —  Streamlit 1.32+, custom dark-mode glassmorphic CSS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PDF Parsing   —  MinerU REST API (hybrid-auto / VLM / OCR / TXT modes)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NLP / Matching—  RapidFuzz, NumPy cosine sim, BeautifulSoup4, lxml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AI Models     —  Ollama (nomic-embed-text, Qwen2, Llama3, Vision LLMs)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Data Handling —  Pandas, python-docx, json, threading (daemon jobs)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PDF Export    —  FPDF / Streamlit download, DOCX export via python-docx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3056" y="3630168"/>
            <a:ext cx="2633472" cy="2121408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3056" y="3630168"/>
            <a:ext cx="2633472" cy="347472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63056" y="3630168"/>
            <a:ext cx="26334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  MODULE 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8" y="4041648"/>
            <a:ext cx="54864" cy="164592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40416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  <a:latin typeface="Segoe UI"/>
              </a:rPr>
              <a:t>app.py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04164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Streamlit UI &amp; orchestration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4288536"/>
            <a:ext cx="54864" cy="164592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28853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B5CF6"/>
                </a:solidFill>
                <a:latin typeface="Segoe UI"/>
              </a:rPr>
              <a:t>pdf_converter.py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42885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MinerU PDF→Markdown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4535424"/>
            <a:ext cx="54864" cy="164592"/>
          </a:xfrm>
          <a:prstGeom prst="rect">
            <a:avLst>
              <a:gd name="adj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453542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C4899"/>
                </a:solidFill>
                <a:latin typeface="Segoe UI"/>
              </a:rPr>
              <a:t>section_extractor.py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45354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TOC &amp; tree builder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8" y="4782312"/>
            <a:ext cx="54864" cy="164592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478231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section_matcher.py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478231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4-tier NLP matcher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36208" y="5029200"/>
            <a:ext cx="54864" cy="164592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502920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llm_verifier.py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50292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Ollama LLM verifier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8" y="5276088"/>
            <a:ext cx="54864" cy="164592"/>
          </a:xfrm>
          <a:prstGeom prst="rect">
            <a:avLst>
              <a:gd name="adj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64224" y="52760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  <a:latin typeface="Segoe UI"/>
              </a:rPr>
              <a:t>job_runner.py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2360" y="5276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Background daemon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6208" y="5522976"/>
            <a:ext cx="54864" cy="164592"/>
          </a:xfrm>
          <a:prstGeom prst="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552297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Segoe UI"/>
              </a:rPr>
              <a:t>auth.py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2360" y="552297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Segoe UI"/>
              </a:rPr>
              <a:t>Auth &amp; history mgmt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3630168"/>
            <a:ext cx="2587752" cy="2121408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0" y="3630168"/>
            <a:ext cx="2587752" cy="347472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3630168"/>
            <a:ext cx="258775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  AUTH &amp; SECURITY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81160" y="4041648"/>
            <a:ext cx="233172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LDAP Enterprise Auth (ldap3)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Local users_config.json fallback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SHA-256 password hashing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Per-user job history isolation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Daemon thread isolation (no zombies)</a:t>
            </a:r>
          </a:p>
          <a:p>
            <a:pPr algn="l">
              <a:spcBef>
                <a:spcPts val="500"/>
              </a:spcBef>
            </a:pPr>
            <a:r>
              <a:rPr sz="950" b="0">
                <a:solidFill>
                  <a:srgbClr val="CBD5E1"/>
                </a:solidFill>
                <a:latin typeface="Segoe UI"/>
              </a:rPr>
              <a:t> › Air-gapped — zero cloud calls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56832"/>
            <a:ext cx="12191695" cy="201168"/>
          </a:xfrm>
          <a:prstGeom prst="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6751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Segoe UI"/>
              </a:rPr>
              <a:t>QAP Document Verification AI   |   System Architecture &amp; Technical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37160"/>
            <a:ext cx="530352" cy="27432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13716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8FAFC"/>
                </a:solidFill>
                <a:latin typeface="Segoe UI"/>
              </a:rP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Verification Results &amp; System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AUDIT BENCHMARKS  •  MATCHING ACCURACY  •  STANDARDS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22860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2148840" cy="89611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Segoe UI"/>
              </a:rPr>
              <a:t>&lt; 3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Full Audit
Execution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024128"/>
            <a:ext cx="2148840" cy="89611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0789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Segoe UI"/>
              </a:rPr>
              <a:t>95%+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49961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Time Saved vs
Manual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024128"/>
            <a:ext cx="2148840" cy="89611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10789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Segoe UI"/>
              </a:rPr>
              <a:t>&gt; 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9961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Checklist Item
Recall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2904" y="1024128"/>
            <a:ext cx="2148840" cy="89611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0789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Segoe UI"/>
              </a:rPr>
              <a:t>15+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149961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MIL-STD / JSS
Standards 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1472" y="1024128"/>
            <a:ext cx="2148840" cy="89611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10789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Segoe U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149961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Segoe UI"/>
              </a:rPr>
              <a:t>Air-Gapped
On-Premise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349240" cy="245059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057400"/>
            <a:ext cx="5349240" cy="347472"/>
          </a:xfrm>
          <a:prstGeom prst="rect">
            <a:avLst>
              <a:gd name="adj" fmla="val 0"/>
            </a:avLst>
          </a:prstGeom>
          <a:solidFill>
            <a:srgbClr val="0F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57400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Segoe UI"/>
              </a:rPr>
              <a:t>  PIPELINE STAGE 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487168"/>
            <a:ext cx="109728" cy="347472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48716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Stage 1 – PDF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68833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Hybrid MinerU API handles text-native, scanned &amp; VLM-assisted PDFs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90088"/>
            <a:ext cx="109728" cy="347472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299008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Segoe UI"/>
              </a:rPr>
              <a:t>Stage 2 – Section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19125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7-step parser resolves cross-page TOC splits, hash headings &amp; HTML tables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493008"/>
            <a:ext cx="109728" cy="347472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49300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Segoe UI"/>
              </a:rPr>
              <a:t>Stage 3 – NLP 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69417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4-tier cascade achieves &gt;94% recall; synonym dict covers QAP domain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995928"/>
            <a:ext cx="109728" cy="347472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99592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Stage 4 – LLM 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197096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Ollama verifier outputs Verified / Partial / Not Found / Failed per 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2057400"/>
            <a:ext cx="5568696" cy="2450592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6" y="2057400"/>
            <a:ext cx="5568696" cy="347472"/>
          </a:xfrm>
          <a:prstGeom prst="rect">
            <a:avLst>
              <a:gd name="adj" fmla="val 0"/>
            </a:avLst>
          </a:prstGeom>
          <a:solidFill>
            <a:srgbClr val="0F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3056" y="2057400"/>
            <a:ext cx="556869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  MATCHING TIER ACCURACY (Recall 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4" y="25420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Tier 1 – Exact Normalized Match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2761488"/>
            <a:ext cx="3258921" cy="201168"/>
          </a:xfrm>
          <a:prstGeom prst="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6569" y="27614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99%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305409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Tier 2 – RapidFuzz Token Sort Ratio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3273552"/>
            <a:ext cx="3127248" cy="201168"/>
          </a:xfrm>
          <a:prstGeom prst="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32735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Segoe UI"/>
              </a:rPr>
              <a:t>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3566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Tier 3 – QAP Synonym Dictionary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72784" y="3785616"/>
            <a:ext cx="2962656" cy="201168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37856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Segoe UI"/>
              </a:rPr>
              <a:t>90%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40782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Tier 4 – nomic-embed-text Vectors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4" y="4297680"/>
            <a:ext cx="2798064" cy="201168"/>
          </a:xfrm>
          <a:prstGeom prst="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42976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85%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663440"/>
            <a:ext cx="11274552" cy="1115568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663440"/>
            <a:ext cx="11274552" cy="320040"/>
          </a:xfrm>
          <a:prstGeom prst="rect">
            <a:avLst>
              <a:gd name="adj" fmla="val 0"/>
            </a:avLst>
          </a:prstGeom>
          <a:solidFill>
            <a:srgbClr val="0F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6634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Segoe UI"/>
              </a:rPr>
              <a:t>  MILITARY &amp; AEROSPACE STANDARDS COVERED IN CHECKLIST VERIFICATION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Microcircuits &amp; Components: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MIL-STD-883, MIL-STD-202, MIL-STD-38535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96312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Environmental Testing: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96312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MIL-STD-810, JSS 55555, MIL-STD-2164, MIL-STD-344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98264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Soldering &amp; Workmanship: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98264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J-STD-001, ISRO PAX 300, IPC-610, MIL-S-45743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EMI / EMC: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MIL-STD-461, IEC 61000-4-2, JSS 50101 (CEMILAC)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8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PCB &amp; Reliability: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2168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MIL-PRF-5511, MIL-PRF-31032, MIL-STD-338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Segoe UI"/>
              </a:rPr>
              <a:t>Conformal / Potting: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04120" y="523036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Segoe UI"/>
              </a:rPr>
              <a:t>MIL-I-46058, MIL-46146, IPC-CC-830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852160"/>
            <a:ext cx="11274552" cy="365760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870448"/>
            <a:ext cx="112745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Segoe UI"/>
              </a:rPr>
              <a:t>  Output Format:  JSON results per checklist item (status + summary + evidence + gaps)  |  Styled PDF / DOCX audit report download  |  Per-user job history with full audit trail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56832"/>
            <a:ext cx="12191695" cy="201168"/>
          </a:xfrm>
          <a:prstGeom prst="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6751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Segoe UI"/>
              </a:rPr>
              <a:t>QAP Document Verification AI   |   Verification Results &amp; System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137160"/>
            <a:ext cx="530352" cy="274320"/>
          </a:xfrm>
          <a:prstGeom prst="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13716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8FAFC"/>
                </a:solidFill>
                <a:latin typeface="Segoe UI"/>
              </a:rP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Segoe UI"/>
              </a:rPr>
              <a:t>KEY FEATURES  •  CHALLENGES OVERCOME  • 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11274552" cy="22860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384048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241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  The QAP Document Verification AI successfully automates a complex, multi-step defense compliance audit workflow. It combines layout-aware PDF parsing, multi-tier NLP matching, and local LLM reasoning into a single, secure, air-gapped system — reducing audit time from hours to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566160" cy="292608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365760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  KEY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554480"/>
            <a:ext cx="365760" cy="27432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554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947672"/>
            <a:ext cx="33832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Streamlit dark-mode glassmorphic UI with hero title &amp; glass cards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4-tier NLP cascade (Exact → Fuzzy → Synonym → Embedding) — zero missed items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Cross-page TOC resolution with word-boundary &amp; RapidFuzz anchor matching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SectionNode / TableNode / FigureNode data model — rich structured context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Decoupled daemon thread architecture — UI stays live during long jobs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Enterprise LDAP auth + local user fallback + SHA-256 password hashing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Vision LLM support: optional image description pass before verification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Per-user job history with full audit trail stored in history.json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508760"/>
            <a:ext cx="3566160" cy="292608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508760"/>
            <a:ext cx="3566160" cy="365760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  CHALLENGES OVERCOME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4928" y="1554480"/>
            <a:ext cx="365760" cy="27432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554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1947672"/>
            <a:ext cx="33832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Cross-page TOC splitting: headings broken across PDF page boundaries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Multi-column &amp; HTML table-based TOC formats (EI-Wave style)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Deduplication of hash headings vs. TOC body vs. plain numeric headings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Context window limits: smart truncation to 12 000 chars per section block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Keeping Streamlit responsive during 3-hour MinerU API timeouts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Synonym coverage for 40+ QAP domain term variations per section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Handling base64 / URL / binary image assets from MinerU ZIP responses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LLM hallucination control via structured JSON-only output prompting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5592" y="1508760"/>
            <a:ext cx="3566160" cy="292608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65592" y="1508760"/>
            <a:ext cx="3566160" cy="365760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Segoe UI"/>
              </a:rPr>
              <a:t>  FUTURE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74552" y="1554480"/>
            <a:ext cx="365760" cy="27432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74552" y="1554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947672"/>
            <a:ext cx="33832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Multi-document cross-referencing: QAP vs. test logs vs. component datasheets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Fine-tuned local LLMs on defence MIL-STD / JSS / ISRO specification corpora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Real-time interactive auditor workbench with human-in-the-loop override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Auto-generated compliance certificates and non-conformance reports (NCR)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REST microservice API — decouple pipeline from Streamlit for CI/CD integration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Incremental re-verification: only re-check amended sections on doc revision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Graph-based traceability: link checklist items to specific page + line evidence</a:t>
            </a:r>
          </a:p>
          <a:p>
            <a:pPr algn="l">
              <a:spcBef>
                <a:spcPts val="300"/>
              </a:spcBef>
            </a:pPr>
            <a:r>
              <a:rPr sz="880" b="0">
                <a:solidFill>
                  <a:srgbClr val="CBD5E1"/>
                </a:solidFill>
                <a:latin typeface="Segoe UI"/>
              </a:rPr>
              <a:t> ›  CEMILAC-compliant digital audit trail with tamper-evident hash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6B6D4"/>
                </a:solidFill>
                <a:latin typeface="Segoe UI"/>
              </a:rPr>
              <a:t>Time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4-6 hrs → &lt;3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95%+ faster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8296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68296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Segoe U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68296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Multi-tier NLP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8296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&gt;94% recall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79392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79392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9392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Segoe UI"/>
              </a:rPr>
              <a:t>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9392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15+ Std bodies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Full QAP spec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0488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0488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8B5CF6"/>
                </a:solidFill>
                <a:latin typeface="Segoe UI"/>
              </a:rPr>
              <a:t>Security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0488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Air-gapped 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0488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No cloud calls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01584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01584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1584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B82F6"/>
                </a:solidFill>
                <a:latin typeface="Segoe UI"/>
              </a:rPr>
              <a:t>Scalability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4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Daemon threads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1584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Non-blocking UI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80" y="4553712"/>
            <a:ext cx="1801368" cy="77724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12680" y="4553712"/>
            <a:ext cx="1801368" cy="45720"/>
          </a:xfrm>
          <a:prstGeom prst="rect">
            <a:avLst>
              <a:gd name="adj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12680" y="4626864"/>
            <a:ext cx="1801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C4899"/>
                </a:solidFill>
                <a:latin typeface="Segoe UI"/>
              </a:rPr>
              <a:t>Extensibility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4846320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CBD5E1"/>
                </a:solidFill>
                <a:latin typeface="Segoe UI"/>
              </a:rPr>
              <a:t>Modular pipeline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5056632"/>
            <a:ext cx="18013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8FAFC"/>
                </a:solidFill>
                <a:latin typeface="Segoe UI"/>
              </a:rPr>
              <a:t>Easy to extend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468112"/>
            <a:ext cx="11274552" cy="411480"/>
          </a:xfrm>
          <a:prstGeom prst="rect">
            <a:avLst>
              <a:gd name="adj" fmla="val 10000"/>
            </a:avLst>
          </a:prstGeom>
          <a:solidFill>
            <a:srgbClr val="0F28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48640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  Designed for defense electronics quality assurance teams — secure, autonomous, and ready for production deployment on air-gapped internal networks. Combines the best of document intelligence, NLP, and LLM reasoning in one coherent pipeline.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56832"/>
            <a:ext cx="12191695" cy="201168"/>
          </a:xfrm>
          <a:prstGeom prst="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675120"/>
            <a:ext cx="10972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Segoe UI"/>
              </a:rPr>
              <a:t>QAP Document Verification AI   |   Conclusion: Key Features, Challenges &amp; 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